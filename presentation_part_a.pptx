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333333"/>
                </a:solidFill>
              </a:defRPr>
            </a:pPr>
            <a:r>
              <a:t>以太坊交易行为分析系统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Part A: 数据预处理与欺诈检测</a:t>
            </a:r>
            <a:br/>
            <a:r>
              <a:t>DSAA5022 Course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项目概述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目标: 基于以太坊链上交易数据，识别欺诈地址</a:t>
            </a:r>
          </a:p>
          <a:p>
            <a:pPr>
              <a:spcAft>
                <a:spcPts val="1200"/>
              </a:spcAft>
              <a:defRPr sz="2000"/>
            </a:pPr>
            <a:r>
              <a:t>数据集: 9,841个地址，22.14%为欺诈地址</a:t>
            </a:r>
          </a:p>
          <a:p>
            <a:pPr>
              <a:spcAft>
                <a:spcPts val="1200"/>
              </a:spcAft>
              <a:defRPr sz="2000"/>
            </a:pPr>
            <a:r>
              <a:t>方法: 数据清洗 → 特征工程 → Random Forest分类</a:t>
            </a:r>
          </a:p>
          <a:p>
            <a:pPr>
              <a:spcAft>
                <a:spcPts val="1200"/>
              </a:spcAft>
              <a:defRPr sz="2000"/>
            </a:pPr>
            <a:r>
              <a:t>结果: 96.14%准确率，97.37%精确率，84.86%召回率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数据探索发现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欺诈地址的交易活跃度远低于正常地址</a:t>
            </a:r>
          </a:p>
          <a:p>
            <a:pPr>
              <a:spcAft>
                <a:spcPts val="1200"/>
              </a:spcAft>
              <a:defRPr sz="2000"/>
            </a:pPr>
            <a:r>
              <a:t>Sent tnx: 正常147 vs 欺诈5 (28.5倍差距)</a:t>
            </a:r>
          </a:p>
          <a:p>
            <a:pPr>
              <a:spcAft>
                <a:spcPts val="1200"/>
              </a:spcAft>
              <a:defRPr sz="2000"/>
            </a:pPr>
            <a:r>
              <a:t>ETH余额: 正常1,895 vs 欺诈9.5 (199倍差距)</a:t>
            </a:r>
          </a:p>
          <a:p>
            <a:pPr>
              <a:spcAft>
                <a:spcPts val="1200"/>
              </a:spcAft>
              <a:defRPr sz="2000"/>
            </a:pPr>
            <a:r>
              <a:t>欺诈地址 predominantly是接收方，而非发送方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特征工程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基于EDA发现，设计10个领域驱动特征</a:t>
            </a:r>
          </a:p>
          <a:p>
            <a:pPr>
              <a:spcAft>
                <a:spcPts val="1200"/>
              </a:spcAft>
              <a:defRPr sz="2000"/>
            </a:pPr>
            <a:r>
              <a:t>sent_received_ratio: 发送/接收比（Top 2重要性）</a:t>
            </a:r>
          </a:p>
          <a:p>
            <a:pPr>
              <a:spcAft>
                <a:spcPts val="1200"/>
              </a:spcAft>
              <a:defRPr sz="2000"/>
            </a:pPr>
            <a:r>
              <a:t>ether_flow: ETH净流入（差异最大: 17.7倍）</a:t>
            </a:r>
          </a:p>
          <a:p>
            <a:pPr>
              <a:spcAft>
                <a:spcPts val="1200"/>
              </a:spcAft>
              <a:defRPr sz="2000"/>
            </a:pPr>
            <a:r>
              <a:t>contract_ratio: 合约创建比率（欺诈几乎为0）</a:t>
            </a:r>
          </a:p>
          <a:p>
            <a:pPr>
              <a:spcAft>
                <a:spcPts val="1200"/>
              </a:spcAft>
              <a:defRPr sz="2000"/>
            </a:pPr>
            <a:r>
              <a:t>所有衍生特征通过Mann-Whitney U检验（p&lt;0.001）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欺诈检测模型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Random Forest (n_estimators=100, class_weight=balanced)</a:t>
            </a:r>
          </a:p>
          <a:p>
            <a:pPr>
              <a:spcAft>
                <a:spcPts val="1200"/>
              </a:spcAft>
              <a:defRPr sz="2000"/>
            </a:pPr>
            <a:r>
              <a:t>分层抽样: 80%训练，20%测试</a:t>
            </a:r>
          </a:p>
          <a:p>
            <a:pPr>
              <a:spcAft>
                <a:spcPts val="1200"/>
              </a:spcAft>
              <a:defRPr sz="2000"/>
            </a:pPr>
            <a:r>
              <a:t>AUC-ROC = 0.9805</a:t>
            </a:r>
          </a:p>
          <a:p>
            <a:pPr>
              <a:spcAft>
                <a:spcPts val="1200"/>
              </a:spcAft>
              <a:defRPr sz="2000"/>
            </a:pPr>
            <a:r>
              <a:t>最佳F1阈值: 0.38（F1=92.12%）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评估结果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Accuracy: 96.14%</a:t>
            </a:r>
          </a:p>
          <a:p>
            <a:pPr>
              <a:spcAft>
                <a:spcPts val="1200"/>
              </a:spcAft>
              <a:defRPr sz="2000"/>
            </a:pPr>
            <a:r>
              <a:t>Precision: 97.37% (误报极低)</a:t>
            </a:r>
          </a:p>
          <a:p>
            <a:pPr>
              <a:spcAft>
                <a:spcPts val="1200"/>
              </a:spcAft>
              <a:defRPr sz="2000"/>
            </a:pPr>
            <a:r>
              <a:t>Recall: 84.86% (15%漏报率)</a:t>
            </a:r>
          </a:p>
          <a:p>
            <a:pPr>
              <a:spcAft>
                <a:spcPts val="1200"/>
              </a:spcAft>
              <a:defRPr sz="2000"/>
            </a:pPr>
            <a:r>
              <a:t>Specificity: 99.35% (正常用户几乎不误杀)</a:t>
            </a:r>
          </a:p>
          <a:p>
            <a:pPr>
              <a:spcAft>
                <a:spcPts val="1200"/>
              </a:spcAft>
              <a:defRPr sz="2000"/>
            </a:pPr>
            <a:r>
              <a:t>混淆矩阵: TP=370, FP=10, FN=66, TN=1,523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局限性与改进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召回率84.86%仍有提升空间</a:t>
            </a:r>
          </a:p>
          <a:p>
            <a:pPr>
              <a:spcAft>
                <a:spcPts val="1200"/>
              </a:spcAft>
              <a:defRPr sz="2000"/>
            </a:pPr>
            <a:r>
              <a:t>静态数据，缺少时序演化信息</a:t>
            </a:r>
          </a:p>
          <a:p>
            <a:pPr>
              <a:spcAft>
                <a:spcPts val="1200"/>
              </a:spcAft>
              <a:defRPr sz="2000"/>
            </a:pPr>
            <a:r>
              <a:t>改进: 集成Part B异常检测，阈值调优</a:t>
            </a:r>
          </a:p>
          <a:p>
            <a:pPr>
              <a:spcAft>
                <a:spcPts val="1200"/>
              </a:spcAft>
              <a:defRPr sz="2000"/>
            </a:pPr>
            <a:r>
              <a:t>改进: 尝试XGBoost，加入时序特征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